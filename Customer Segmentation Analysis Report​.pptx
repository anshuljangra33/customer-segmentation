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0" r:id="rId5"/>
    <p:sldId id="261" r:id="rId6"/>
    <p:sldId id="262" r:id="rId7"/>
    <p:sldId id="263" r:id="rId8"/>
    <p:sldId id="264" r:id="rId9"/>
    <p:sldId id="265" r:id="rId10"/>
    <p:sldId id="258"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8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E6BE4D-BECD-4B73-B947-C442F65B1383}"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E26F68-207A-4CBD-8286-87B80521C23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829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E6BE4D-BECD-4B73-B947-C442F65B1383}"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E26F68-207A-4CBD-8286-87B80521C234}" type="slidenum">
              <a:rPr lang="en-IN" smtClean="0"/>
              <a:t>‹#›</a:t>
            </a:fld>
            <a:endParaRPr lang="en-IN"/>
          </a:p>
        </p:txBody>
      </p:sp>
    </p:spTree>
    <p:extLst>
      <p:ext uri="{BB962C8B-B14F-4D97-AF65-F5344CB8AC3E}">
        <p14:creationId xmlns:p14="http://schemas.microsoft.com/office/powerpoint/2010/main" val="3298877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E6BE4D-BECD-4B73-B947-C442F65B1383}"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E26F68-207A-4CBD-8286-87B80521C23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400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E6BE4D-BECD-4B73-B947-C442F65B1383}"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E26F68-207A-4CBD-8286-87B80521C234}" type="slidenum">
              <a:rPr lang="en-IN" smtClean="0"/>
              <a:t>‹#›</a:t>
            </a:fld>
            <a:endParaRPr lang="en-IN"/>
          </a:p>
        </p:txBody>
      </p:sp>
    </p:spTree>
    <p:extLst>
      <p:ext uri="{BB962C8B-B14F-4D97-AF65-F5344CB8AC3E}">
        <p14:creationId xmlns:p14="http://schemas.microsoft.com/office/powerpoint/2010/main" val="208400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E6BE4D-BECD-4B73-B947-C442F65B1383}" type="datetimeFigureOut">
              <a:rPr lang="en-IN" smtClean="0"/>
              <a:t>28-11-2025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E26F68-207A-4CBD-8286-87B80521C234}" type="slidenum">
              <a:rPr lang="en-IN" smtClean="0"/>
              <a:t>‹#›</a:t>
            </a:fld>
            <a:endParaRPr lang="en-IN"/>
          </a:p>
        </p:txBody>
      </p:sp>
    </p:spTree>
    <p:extLst>
      <p:ext uri="{BB962C8B-B14F-4D97-AF65-F5344CB8AC3E}">
        <p14:creationId xmlns:p14="http://schemas.microsoft.com/office/powerpoint/2010/main" val="1999455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E6BE4D-BECD-4B73-B947-C442F65B1383}" type="datetimeFigureOut">
              <a:rPr lang="en-IN" smtClean="0"/>
              <a:t>28-11-2025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E26F68-207A-4CBD-8286-87B80521C234}" type="slidenum">
              <a:rPr lang="en-IN" smtClean="0"/>
              <a:t>‹#›</a:t>
            </a:fld>
            <a:endParaRPr lang="en-IN"/>
          </a:p>
        </p:txBody>
      </p:sp>
    </p:spTree>
    <p:extLst>
      <p:ext uri="{BB962C8B-B14F-4D97-AF65-F5344CB8AC3E}">
        <p14:creationId xmlns:p14="http://schemas.microsoft.com/office/powerpoint/2010/main" val="895599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EE6BE4D-BECD-4B73-B947-C442F65B1383}" type="datetimeFigureOut">
              <a:rPr lang="en-IN" smtClean="0"/>
              <a:t>28-11-2025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1E26F68-207A-4CBD-8286-87B80521C234}" type="slidenum">
              <a:rPr lang="en-IN" smtClean="0"/>
              <a:t>‹#›</a:t>
            </a:fld>
            <a:endParaRPr lang="en-IN"/>
          </a:p>
        </p:txBody>
      </p:sp>
    </p:spTree>
    <p:extLst>
      <p:ext uri="{BB962C8B-B14F-4D97-AF65-F5344CB8AC3E}">
        <p14:creationId xmlns:p14="http://schemas.microsoft.com/office/powerpoint/2010/main" val="3006428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EE6BE4D-BECD-4B73-B947-C442F65B1383}" type="datetimeFigureOut">
              <a:rPr lang="en-IN" smtClean="0"/>
              <a:t>28-11-2025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1E26F68-207A-4CBD-8286-87B80521C234}" type="slidenum">
              <a:rPr lang="en-IN" smtClean="0"/>
              <a:t>‹#›</a:t>
            </a:fld>
            <a:endParaRPr lang="en-IN"/>
          </a:p>
        </p:txBody>
      </p:sp>
    </p:spTree>
    <p:extLst>
      <p:ext uri="{BB962C8B-B14F-4D97-AF65-F5344CB8AC3E}">
        <p14:creationId xmlns:p14="http://schemas.microsoft.com/office/powerpoint/2010/main" val="312993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E6BE4D-BECD-4B73-B947-C442F65B1383}"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E26F68-207A-4CBD-8286-87B80521C234}" type="slidenum">
              <a:rPr lang="en-IN" smtClean="0"/>
              <a:t>‹#›</a:t>
            </a:fld>
            <a:endParaRPr lang="en-IN"/>
          </a:p>
        </p:txBody>
      </p:sp>
    </p:spTree>
    <p:extLst>
      <p:ext uri="{BB962C8B-B14F-4D97-AF65-F5344CB8AC3E}">
        <p14:creationId xmlns:p14="http://schemas.microsoft.com/office/powerpoint/2010/main" val="2466707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E6BE4D-BECD-4B73-B947-C442F65B1383}"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E26F68-207A-4CBD-8286-87B80521C234}" type="slidenum">
              <a:rPr lang="en-IN" smtClean="0"/>
              <a:t>‹#›</a:t>
            </a:fld>
            <a:endParaRPr lang="en-IN"/>
          </a:p>
        </p:txBody>
      </p:sp>
    </p:spTree>
    <p:extLst>
      <p:ext uri="{BB962C8B-B14F-4D97-AF65-F5344CB8AC3E}">
        <p14:creationId xmlns:p14="http://schemas.microsoft.com/office/powerpoint/2010/main" val="1007672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E6BE4D-BECD-4B73-B947-C442F65B1383}"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E26F68-207A-4CBD-8286-87B80521C234}" type="slidenum">
              <a:rPr lang="en-IN" smtClean="0"/>
              <a:t>‹#›</a:t>
            </a:fld>
            <a:endParaRPr lang="en-IN"/>
          </a:p>
        </p:txBody>
      </p:sp>
    </p:spTree>
    <p:extLst>
      <p:ext uri="{BB962C8B-B14F-4D97-AF65-F5344CB8AC3E}">
        <p14:creationId xmlns:p14="http://schemas.microsoft.com/office/powerpoint/2010/main" val="76714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EE6BE4D-BECD-4B73-B947-C442F65B1383}" type="datetimeFigureOut">
              <a:rPr lang="en-IN" smtClean="0"/>
              <a:t>28-11-2025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1E26F68-207A-4CBD-8286-87B80521C23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25042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857F9-A021-0E93-D947-D51AB88893C4}"/>
              </a:ext>
            </a:extLst>
          </p:cNvPr>
          <p:cNvSpPr>
            <a:spLocks noGrp="1"/>
          </p:cNvSpPr>
          <p:nvPr>
            <p:ph type="ctrTitle"/>
          </p:nvPr>
        </p:nvSpPr>
        <p:spPr/>
        <p:txBody>
          <a:bodyPr>
            <a:normAutofit/>
          </a:bodyPr>
          <a:lstStyle/>
          <a:p>
            <a:r>
              <a:rPr lang="en-US" dirty="0"/>
              <a:t>Customer Segmentation Analysis Report​</a:t>
            </a:r>
            <a:endParaRPr lang="en-IN" dirty="0"/>
          </a:p>
        </p:txBody>
      </p:sp>
      <p:sp>
        <p:nvSpPr>
          <p:cNvPr id="3" name="Subtitle 2">
            <a:extLst>
              <a:ext uri="{FF2B5EF4-FFF2-40B4-BE49-F238E27FC236}">
                <a16:creationId xmlns:a16="http://schemas.microsoft.com/office/drawing/2014/main" id="{EE96C3DE-8E25-40C5-2652-078E01C6FE51}"/>
              </a:ext>
            </a:extLst>
          </p:cNvPr>
          <p:cNvSpPr>
            <a:spLocks noGrp="1"/>
          </p:cNvSpPr>
          <p:nvPr>
            <p:ph type="subTitle" idx="1"/>
          </p:nvPr>
        </p:nvSpPr>
        <p:spPr/>
        <p:txBody>
          <a:bodyPr>
            <a:normAutofit lnSpcReduction="10000"/>
          </a:bodyPr>
          <a:lstStyle/>
          <a:p>
            <a:r>
              <a:rPr lang="en-US" dirty="0"/>
              <a:t>Subject: Analysis of Mall Customer Data using K-Means Clustering</a:t>
            </a:r>
          </a:p>
          <a:p>
            <a:pPr algn="r"/>
            <a:r>
              <a:rPr lang="en-US" sz="1600" dirty="0"/>
              <a:t>By- </a:t>
            </a:r>
            <a:r>
              <a:rPr lang="en-US" sz="1600" dirty="0" err="1"/>
              <a:t>anshul</a:t>
            </a:r>
            <a:r>
              <a:rPr lang="en-US" sz="1600" dirty="0"/>
              <a:t> </a:t>
            </a:r>
            <a:r>
              <a:rPr lang="en-US" sz="1600" dirty="0" err="1"/>
              <a:t>jangra</a:t>
            </a:r>
            <a:endParaRPr lang="en-IN" sz="1600" dirty="0"/>
          </a:p>
        </p:txBody>
      </p:sp>
    </p:spTree>
    <p:extLst>
      <p:ext uri="{BB962C8B-B14F-4D97-AF65-F5344CB8AC3E}">
        <p14:creationId xmlns:p14="http://schemas.microsoft.com/office/powerpoint/2010/main" val="1274387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A2CEB-9173-9E81-3759-43910939B082}"/>
              </a:ext>
            </a:extLst>
          </p:cNvPr>
          <p:cNvSpPr>
            <a:spLocks noGrp="1"/>
          </p:cNvSpPr>
          <p:nvPr>
            <p:ph type="title"/>
          </p:nvPr>
        </p:nvSpPr>
        <p:spPr/>
        <p:txBody>
          <a:bodyPr/>
          <a:lstStyle/>
          <a:p>
            <a:r>
              <a:rPr lang="en-US" dirty="0"/>
              <a:t>1. Introduction</a:t>
            </a:r>
            <a:endParaRPr lang="en-IN" dirty="0"/>
          </a:p>
        </p:txBody>
      </p:sp>
      <p:sp>
        <p:nvSpPr>
          <p:cNvPr id="3" name="Content Placeholder 2">
            <a:extLst>
              <a:ext uri="{FF2B5EF4-FFF2-40B4-BE49-F238E27FC236}">
                <a16:creationId xmlns:a16="http://schemas.microsoft.com/office/drawing/2014/main" id="{21970C91-AAC9-B8DA-5AAE-ECDCA067BD28}"/>
              </a:ext>
            </a:extLst>
          </p:cNvPr>
          <p:cNvSpPr>
            <a:spLocks noGrp="1"/>
          </p:cNvSpPr>
          <p:nvPr>
            <p:ph idx="1"/>
          </p:nvPr>
        </p:nvSpPr>
        <p:spPr/>
        <p:txBody>
          <a:bodyPr/>
          <a:lstStyle/>
          <a:p>
            <a:r>
              <a:rPr lang="en-US" dirty="0"/>
              <a:t>In modern retail businesses, understanding customer behavior is essential for targeted marketing, personalized recommendations, and business growth. Customer segmentation divides customers into groups with similar characteristics, enabling companies to design tailored marketing strategies.</a:t>
            </a:r>
          </a:p>
          <a:p>
            <a:r>
              <a:rPr lang="en-US" dirty="0"/>
              <a:t>This project applies K-Means Clustering, an unsupervised machine learning technique, to segment customers based on their Annual Income and Spending Score using the Mall Customers Dataset.</a:t>
            </a:r>
          </a:p>
          <a:p>
            <a:r>
              <a:rPr lang="en-US" dirty="0"/>
              <a:t>The goal is to identify distinct customer groups that can help in strategic decision-making</a:t>
            </a:r>
            <a:endParaRPr lang="en-IN" dirty="0"/>
          </a:p>
        </p:txBody>
      </p:sp>
    </p:spTree>
    <p:extLst>
      <p:ext uri="{BB962C8B-B14F-4D97-AF65-F5344CB8AC3E}">
        <p14:creationId xmlns:p14="http://schemas.microsoft.com/office/powerpoint/2010/main" val="850887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2ED62-F2EF-0BBB-B7E9-7ED6D107DD6C}"/>
              </a:ext>
            </a:extLst>
          </p:cNvPr>
          <p:cNvSpPr>
            <a:spLocks noGrp="1"/>
          </p:cNvSpPr>
          <p:nvPr>
            <p:ph type="title"/>
          </p:nvPr>
        </p:nvSpPr>
        <p:spPr/>
        <p:txBody>
          <a:bodyPr/>
          <a:lstStyle/>
          <a:p>
            <a:r>
              <a:rPr lang="en-US" dirty="0"/>
              <a:t>​2. Data Overview &amp; Preprocessing​</a:t>
            </a:r>
            <a:endParaRPr lang="en-IN" dirty="0"/>
          </a:p>
        </p:txBody>
      </p:sp>
      <p:sp>
        <p:nvSpPr>
          <p:cNvPr id="3" name="Content Placeholder 2">
            <a:extLst>
              <a:ext uri="{FF2B5EF4-FFF2-40B4-BE49-F238E27FC236}">
                <a16:creationId xmlns:a16="http://schemas.microsoft.com/office/drawing/2014/main" id="{FD0F95C1-6505-ED40-2734-6DA1C137CCC1}"/>
              </a:ext>
            </a:extLst>
          </p:cNvPr>
          <p:cNvSpPr>
            <a:spLocks noGrp="1"/>
          </p:cNvSpPr>
          <p:nvPr>
            <p:ph idx="1"/>
          </p:nvPr>
        </p:nvSpPr>
        <p:spPr/>
        <p:txBody>
          <a:bodyPr>
            <a:normAutofit fontScale="62500" lnSpcReduction="20000"/>
          </a:bodyPr>
          <a:lstStyle/>
          <a:p>
            <a:pPr marL="0" indent="0">
              <a:buNone/>
            </a:pPr>
            <a:r>
              <a:rPr lang="en-US" b="1" dirty="0"/>
              <a:t>The dataset consists of 200 records with the following attributes:</a:t>
            </a:r>
            <a:r>
              <a:rPr lang="en-US" dirty="0"/>
              <a:t>​</a:t>
            </a:r>
          </a:p>
          <a:p>
            <a:r>
              <a:rPr lang="en-US" sz="2600" dirty="0"/>
              <a:t>CustomerID: Unique identifier</a:t>
            </a:r>
          </a:p>
          <a:p>
            <a:r>
              <a:rPr lang="en-US" sz="2600" dirty="0"/>
              <a:t>​Gender: Categorical (Male/Female)</a:t>
            </a:r>
          </a:p>
          <a:p>
            <a:r>
              <a:rPr lang="en-US" sz="2600" dirty="0"/>
              <a:t>​Age: Numeric</a:t>
            </a:r>
          </a:p>
          <a:p>
            <a:r>
              <a:rPr lang="en-US" sz="2600" dirty="0"/>
              <a:t>​Annual Income (k$): Numeric</a:t>
            </a:r>
          </a:p>
          <a:p>
            <a:r>
              <a:rPr lang="en-US" sz="2600" dirty="0"/>
              <a:t>​Spending Score (1-100): Numeric</a:t>
            </a:r>
          </a:p>
          <a:p>
            <a:pPr marL="0" indent="0">
              <a:buNone/>
            </a:pPr>
            <a:r>
              <a:rPr lang="en-US" dirty="0"/>
              <a:t>​</a:t>
            </a:r>
            <a:r>
              <a:rPr lang="en-US" b="1" dirty="0"/>
              <a:t>Preprocessing Steps:</a:t>
            </a:r>
          </a:p>
          <a:p>
            <a:r>
              <a:rPr lang="en-US" sz="2300" dirty="0"/>
              <a:t>​Data Integrity: The dataset was inspected for missing values. No null values were found (0 nulls in all columns).</a:t>
            </a:r>
          </a:p>
          <a:p>
            <a:r>
              <a:rPr lang="en-US" sz="2300" dirty="0"/>
              <a:t>​Feature Selection: The analysis focused on two key metrics for segmentation:​</a:t>
            </a:r>
          </a:p>
          <a:p>
            <a:r>
              <a:rPr lang="en-US" sz="2300" dirty="0"/>
              <a:t>Annual Income (k$)​</a:t>
            </a:r>
          </a:p>
          <a:p>
            <a:r>
              <a:rPr lang="en-US" sz="2300" dirty="0"/>
              <a:t>Spending Score (1-100)​</a:t>
            </a:r>
          </a:p>
          <a:p>
            <a:r>
              <a:rPr lang="en-US" sz="2300" dirty="0"/>
              <a:t>Dataset Shape: 200 rows, 5 columns</a:t>
            </a:r>
            <a:endParaRPr lang="en-IN" sz="2300" dirty="0"/>
          </a:p>
        </p:txBody>
      </p:sp>
    </p:spTree>
    <p:extLst>
      <p:ext uri="{BB962C8B-B14F-4D97-AF65-F5344CB8AC3E}">
        <p14:creationId xmlns:p14="http://schemas.microsoft.com/office/powerpoint/2010/main" val="658992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D0755-B199-B925-2794-A4C166E3D281}"/>
              </a:ext>
            </a:extLst>
          </p:cNvPr>
          <p:cNvSpPr>
            <a:spLocks noGrp="1"/>
          </p:cNvSpPr>
          <p:nvPr>
            <p:ph type="title"/>
          </p:nvPr>
        </p:nvSpPr>
        <p:spPr/>
        <p:txBody>
          <a:bodyPr/>
          <a:lstStyle/>
          <a:p>
            <a:r>
              <a:rPr lang="en-US" dirty="0"/>
              <a:t>3. Methodology</a:t>
            </a:r>
            <a:endParaRPr lang="en-IN" dirty="0"/>
          </a:p>
        </p:txBody>
      </p:sp>
      <p:sp>
        <p:nvSpPr>
          <p:cNvPr id="3" name="Content Placeholder 2">
            <a:extLst>
              <a:ext uri="{FF2B5EF4-FFF2-40B4-BE49-F238E27FC236}">
                <a16:creationId xmlns:a16="http://schemas.microsoft.com/office/drawing/2014/main" id="{4817261D-A589-7E81-62AC-AC189223B8FD}"/>
              </a:ext>
            </a:extLst>
          </p:cNvPr>
          <p:cNvSpPr>
            <a:spLocks noGrp="1"/>
          </p:cNvSpPr>
          <p:nvPr>
            <p:ph idx="1"/>
          </p:nvPr>
        </p:nvSpPr>
        <p:spPr/>
        <p:txBody>
          <a:bodyPr>
            <a:normAutofit/>
          </a:bodyPr>
          <a:lstStyle/>
          <a:p>
            <a:pPr marL="0" indent="0">
              <a:buNone/>
            </a:pPr>
            <a:r>
              <a:rPr lang="en-US" dirty="0"/>
              <a:t>Determination of Optimal Clusters​To ensure the grouping was mathematically sound, two methods were employed to find the optimal number of clusters (k).​</a:t>
            </a:r>
          </a:p>
          <a:p>
            <a:endParaRPr lang="en-US" dirty="0"/>
          </a:p>
          <a:p>
            <a:r>
              <a:rPr lang="en-US" b="1" dirty="0"/>
              <a:t>3.1 The Elbow Method </a:t>
            </a:r>
          </a:p>
          <a:p>
            <a:pPr marL="0" indent="0">
              <a:buNone/>
            </a:pPr>
            <a:r>
              <a:rPr lang="en-US" dirty="0"/>
              <a:t>​The Within-Cluster Sum of Squares (WCSS) was calculated for cluster counts ranging from 1 to 10.</a:t>
            </a:r>
          </a:p>
          <a:p>
            <a:pPr marL="0" indent="0">
              <a:buNone/>
            </a:pPr>
            <a:r>
              <a:rPr lang="en-US" dirty="0"/>
              <a:t>​Observation: The "Elbow Point Graph" showed a sharp decline in WCSS from 1 to 5 clusters, after which the curve flattened significantly.</a:t>
            </a:r>
          </a:p>
          <a:p>
            <a:pPr marL="0" indent="0">
              <a:buNone/>
            </a:pPr>
            <a:r>
              <a:rPr lang="en-US" dirty="0"/>
              <a:t>​Conclusion: The elbow point was clearly identified at k=5.</a:t>
            </a:r>
            <a:endParaRPr lang="en-IN" dirty="0"/>
          </a:p>
        </p:txBody>
      </p:sp>
    </p:spTree>
    <p:extLst>
      <p:ext uri="{BB962C8B-B14F-4D97-AF65-F5344CB8AC3E}">
        <p14:creationId xmlns:p14="http://schemas.microsoft.com/office/powerpoint/2010/main" val="337709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1D704-07B8-2B8E-2B7A-7EEE3E14374A}"/>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A7969B1B-F6BE-0DEA-8183-A4F5C2AB0D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618836"/>
            <a:ext cx="10217726" cy="5620327"/>
          </a:xfrm>
        </p:spPr>
      </p:pic>
    </p:spTree>
    <p:extLst>
      <p:ext uri="{BB962C8B-B14F-4D97-AF65-F5344CB8AC3E}">
        <p14:creationId xmlns:p14="http://schemas.microsoft.com/office/powerpoint/2010/main" val="3928115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A4765-3BE6-E821-0F72-A569DF79589B}"/>
              </a:ext>
            </a:extLst>
          </p:cNvPr>
          <p:cNvSpPr>
            <a:spLocks noGrp="1"/>
          </p:cNvSpPr>
          <p:nvPr>
            <p:ph type="title"/>
          </p:nvPr>
        </p:nvSpPr>
        <p:spPr/>
        <p:txBody>
          <a:bodyPr/>
          <a:lstStyle/>
          <a:p>
            <a:r>
              <a:rPr lang="en-US" dirty="0"/>
              <a:t>​3.2 Silhouette Analysis</a:t>
            </a:r>
            <a:endParaRPr lang="en-IN" dirty="0"/>
          </a:p>
        </p:txBody>
      </p:sp>
      <p:sp>
        <p:nvSpPr>
          <p:cNvPr id="3" name="Content Placeholder 2">
            <a:extLst>
              <a:ext uri="{FF2B5EF4-FFF2-40B4-BE49-F238E27FC236}">
                <a16:creationId xmlns:a16="http://schemas.microsoft.com/office/drawing/2014/main" id="{B0FB28E1-6E7D-DE17-D635-51E5A6D7D266}"/>
              </a:ext>
            </a:extLst>
          </p:cNvPr>
          <p:cNvSpPr>
            <a:spLocks noGrp="1"/>
          </p:cNvSpPr>
          <p:nvPr>
            <p:ph idx="1"/>
          </p:nvPr>
        </p:nvSpPr>
        <p:spPr/>
        <p:txBody>
          <a:bodyPr>
            <a:normAutofit fontScale="92500"/>
          </a:bodyPr>
          <a:lstStyle/>
          <a:p>
            <a:r>
              <a:rPr lang="en-US" dirty="0"/>
              <a:t>​Silhouette scores were calculated to measure how similar a point is to its own cluster compared to other clusters.</a:t>
            </a:r>
          </a:p>
          <a:p>
            <a:pPr marL="0" indent="0">
              <a:buNone/>
            </a:pPr>
            <a:r>
              <a:rPr lang="en-US" dirty="0"/>
              <a:t>​Results:​</a:t>
            </a:r>
          </a:p>
          <a:p>
            <a:pPr marL="0" indent="0">
              <a:buNone/>
            </a:pPr>
            <a:r>
              <a:rPr lang="en-US" dirty="0"/>
              <a:t>k=2: 0.396​</a:t>
            </a:r>
          </a:p>
          <a:p>
            <a:pPr marL="0" indent="0">
              <a:buNone/>
            </a:pPr>
            <a:r>
              <a:rPr lang="en-US" dirty="0"/>
              <a:t>k=3: 0.468</a:t>
            </a:r>
          </a:p>
          <a:p>
            <a:pPr marL="0" indent="0">
              <a:buNone/>
            </a:pPr>
            <a:r>
              <a:rPr lang="en-US" dirty="0"/>
              <a:t>​k=4: 0.494​</a:t>
            </a:r>
          </a:p>
          <a:p>
            <a:pPr marL="0" indent="0">
              <a:buNone/>
            </a:pPr>
            <a:r>
              <a:rPr lang="en-US" dirty="0"/>
              <a:t>k=5: 0.554 (Highest Score)</a:t>
            </a:r>
          </a:p>
          <a:p>
            <a:pPr marL="0" indent="0">
              <a:buNone/>
            </a:pPr>
            <a:r>
              <a:rPr lang="en-US" dirty="0"/>
              <a:t>​k=6: 0.539</a:t>
            </a:r>
          </a:p>
          <a:p>
            <a:pPr marL="0" indent="0">
              <a:buNone/>
            </a:pPr>
            <a:r>
              <a:rPr lang="en-US" dirty="0"/>
              <a:t>​Conclusion: A score of 0.554 indicates a relatively strong structure. The silhouette plot for k=5 confirms that all clusters have above-average silhouette coefficients, indicating well-separated groups.</a:t>
            </a:r>
            <a:endParaRPr lang="en-IN" dirty="0"/>
          </a:p>
        </p:txBody>
      </p:sp>
    </p:spTree>
    <p:extLst>
      <p:ext uri="{BB962C8B-B14F-4D97-AF65-F5344CB8AC3E}">
        <p14:creationId xmlns:p14="http://schemas.microsoft.com/office/powerpoint/2010/main" val="2452608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52552-AB9F-5829-EC10-5476FF68A75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0D24332-FD03-23B2-538F-482A77F14B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6320" y="581891"/>
            <a:ext cx="10113818" cy="5560290"/>
          </a:xfrm>
        </p:spPr>
      </p:pic>
    </p:spTree>
    <p:extLst>
      <p:ext uri="{BB962C8B-B14F-4D97-AF65-F5344CB8AC3E}">
        <p14:creationId xmlns:p14="http://schemas.microsoft.com/office/powerpoint/2010/main" val="838175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7B904-1F6F-FC30-9F5F-8F1E7447EE0E}"/>
              </a:ext>
            </a:extLst>
          </p:cNvPr>
          <p:cNvSpPr>
            <a:spLocks noGrp="1"/>
          </p:cNvSpPr>
          <p:nvPr>
            <p:ph type="title"/>
          </p:nvPr>
        </p:nvSpPr>
        <p:spPr/>
        <p:txBody>
          <a:bodyPr/>
          <a:lstStyle/>
          <a:p>
            <a:r>
              <a:rPr lang="en-US" dirty="0"/>
              <a:t>​4. Cluster Analysis &amp; Interpretation​</a:t>
            </a:r>
            <a:endParaRPr lang="en-IN" dirty="0"/>
          </a:p>
        </p:txBody>
      </p:sp>
      <p:sp>
        <p:nvSpPr>
          <p:cNvPr id="3" name="Content Placeholder 2">
            <a:extLst>
              <a:ext uri="{FF2B5EF4-FFF2-40B4-BE49-F238E27FC236}">
                <a16:creationId xmlns:a16="http://schemas.microsoft.com/office/drawing/2014/main" id="{3F602EEB-6808-FE8F-37A5-F554681B605A}"/>
              </a:ext>
            </a:extLst>
          </p:cNvPr>
          <p:cNvSpPr>
            <a:spLocks noGrp="1"/>
          </p:cNvSpPr>
          <p:nvPr>
            <p:ph idx="1"/>
          </p:nvPr>
        </p:nvSpPr>
        <p:spPr/>
        <p:txBody>
          <a:bodyPr/>
          <a:lstStyle/>
          <a:p>
            <a:pPr marL="0" indent="0">
              <a:buNone/>
            </a:pPr>
            <a:r>
              <a:rPr lang="en-US" sz="2000" dirty="0"/>
              <a:t>Based on the visualization of the 5 clusters (Green, Red, Blue, Yellow, Black), we have identified the following distinct customer personas:</a:t>
            </a:r>
          </a:p>
          <a:p>
            <a:pPr marL="0" indent="0">
              <a:buNone/>
            </a:pPr>
            <a:endParaRPr lang="en-IN" dirty="0"/>
          </a:p>
        </p:txBody>
      </p:sp>
      <p:graphicFrame>
        <p:nvGraphicFramePr>
          <p:cNvPr id="5" name="Table 4">
            <a:extLst>
              <a:ext uri="{FF2B5EF4-FFF2-40B4-BE49-F238E27FC236}">
                <a16:creationId xmlns:a16="http://schemas.microsoft.com/office/drawing/2014/main" id="{9E274378-AECE-2253-45E4-F647D2C14322}"/>
              </a:ext>
            </a:extLst>
          </p:cNvPr>
          <p:cNvGraphicFramePr>
            <a:graphicFrameLocks noGrp="1"/>
          </p:cNvGraphicFramePr>
          <p:nvPr>
            <p:extLst>
              <p:ext uri="{D42A27DB-BD31-4B8C-83A1-F6EECF244321}">
                <p14:modId xmlns:p14="http://schemas.microsoft.com/office/powerpoint/2010/main" val="3283304127"/>
              </p:ext>
            </p:extLst>
          </p:nvPr>
        </p:nvGraphicFramePr>
        <p:xfrm>
          <a:off x="775855" y="2693764"/>
          <a:ext cx="10640290" cy="3548398"/>
        </p:xfrm>
        <a:graphic>
          <a:graphicData uri="http://schemas.openxmlformats.org/drawingml/2006/table">
            <a:tbl>
              <a:tblPr firstRow="1" bandRow="1">
                <a:tableStyleId>{073A0DAA-6AF3-43AB-8588-CEC1D06C72B9}</a:tableStyleId>
              </a:tblPr>
              <a:tblGrid>
                <a:gridCol w="2128058">
                  <a:extLst>
                    <a:ext uri="{9D8B030D-6E8A-4147-A177-3AD203B41FA5}">
                      <a16:colId xmlns:a16="http://schemas.microsoft.com/office/drawing/2014/main" val="2377451621"/>
                    </a:ext>
                  </a:extLst>
                </a:gridCol>
                <a:gridCol w="2128058">
                  <a:extLst>
                    <a:ext uri="{9D8B030D-6E8A-4147-A177-3AD203B41FA5}">
                      <a16:colId xmlns:a16="http://schemas.microsoft.com/office/drawing/2014/main" val="2160531289"/>
                    </a:ext>
                  </a:extLst>
                </a:gridCol>
                <a:gridCol w="2128058">
                  <a:extLst>
                    <a:ext uri="{9D8B030D-6E8A-4147-A177-3AD203B41FA5}">
                      <a16:colId xmlns:a16="http://schemas.microsoft.com/office/drawing/2014/main" val="3570346170"/>
                    </a:ext>
                  </a:extLst>
                </a:gridCol>
                <a:gridCol w="2128058">
                  <a:extLst>
                    <a:ext uri="{9D8B030D-6E8A-4147-A177-3AD203B41FA5}">
                      <a16:colId xmlns:a16="http://schemas.microsoft.com/office/drawing/2014/main" val="4128534140"/>
                    </a:ext>
                  </a:extLst>
                </a:gridCol>
                <a:gridCol w="2128058">
                  <a:extLst>
                    <a:ext uri="{9D8B030D-6E8A-4147-A177-3AD203B41FA5}">
                      <a16:colId xmlns:a16="http://schemas.microsoft.com/office/drawing/2014/main" val="3041062361"/>
                    </a:ext>
                  </a:extLst>
                </a:gridCol>
              </a:tblGrid>
              <a:tr h="402399">
                <a:tc>
                  <a:txBody>
                    <a:bodyPr/>
                    <a:lstStyle/>
                    <a:p>
                      <a:r>
                        <a:rPr lang="en-IN" sz="1100" dirty="0"/>
                        <a:t>cluster</a:t>
                      </a:r>
                    </a:p>
                  </a:txBody>
                  <a:tcPr/>
                </a:tc>
                <a:tc>
                  <a:txBody>
                    <a:bodyPr/>
                    <a:lstStyle/>
                    <a:p>
                      <a:r>
                        <a:rPr lang="en-IN" sz="1100" dirty="0"/>
                        <a:t>Visual </a:t>
                      </a:r>
                      <a:r>
                        <a:rPr lang="en-IN" sz="1100" dirty="0" err="1"/>
                        <a:t>color</a:t>
                      </a:r>
                      <a:r>
                        <a:rPr lang="en-IN" sz="1100" dirty="0"/>
                        <a:t> (</a:t>
                      </a:r>
                      <a:r>
                        <a:rPr lang="en-IN" sz="1100" dirty="0" err="1"/>
                        <a:t>approx</a:t>
                      </a:r>
                      <a:r>
                        <a:rPr lang="en-IN" sz="1100" dirty="0"/>
                        <a:t>)</a:t>
                      </a:r>
                    </a:p>
                  </a:txBody>
                  <a:tcPr/>
                </a:tc>
                <a:tc>
                  <a:txBody>
                    <a:bodyPr/>
                    <a:lstStyle/>
                    <a:p>
                      <a:r>
                        <a:rPr lang="en-IN" sz="1100" dirty="0"/>
                        <a:t>Characteristics </a:t>
                      </a:r>
                    </a:p>
                  </a:txBody>
                  <a:tcPr/>
                </a:tc>
                <a:tc>
                  <a:txBody>
                    <a:bodyPr/>
                    <a:lstStyle/>
                    <a:p>
                      <a:r>
                        <a:rPr lang="en-IN" sz="1100" dirty="0"/>
                        <a:t>Persona name </a:t>
                      </a:r>
                    </a:p>
                  </a:txBody>
                  <a:tcPr/>
                </a:tc>
                <a:tc>
                  <a:txBody>
                    <a:bodyPr/>
                    <a:lstStyle/>
                    <a:p>
                      <a:r>
                        <a:rPr lang="en-IN" sz="1100" dirty="0"/>
                        <a:t>Marketing strategy</a:t>
                      </a:r>
                    </a:p>
                  </a:txBody>
                  <a:tcPr/>
                </a:tc>
                <a:extLst>
                  <a:ext uri="{0D108BD9-81ED-4DB2-BD59-A6C34878D82A}">
                    <a16:rowId xmlns:a16="http://schemas.microsoft.com/office/drawing/2014/main" val="3033736410"/>
                  </a:ext>
                </a:extLst>
              </a:tr>
              <a:tr h="433279">
                <a:tc>
                  <a:txBody>
                    <a:bodyPr/>
                    <a:lstStyle/>
                    <a:p>
                      <a:r>
                        <a:rPr lang="en-IN" sz="1100" dirty="0"/>
                        <a:t>Cluster 1</a:t>
                      </a:r>
                    </a:p>
                  </a:txBody>
                  <a:tcPr/>
                </a:tc>
                <a:tc>
                  <a:txBody>
                    <a:bodyPr/>
                    <a:lstStyle/>
                    <a:p>
                      <a:r>
                        <a:rPr lang="en-IN" sz="1100" dirty="0"/>
                        <a:t>Green (</a:t>
                      </a:r>
                      <a:r>
                        <a:rPr lang="en-IN" sz="1100" dirty="0" err="1"/>
                        <a:t>center</a:t>
                      </a:r>
                      <a:r>
                        <a:rPr lang="en-IN" sz="1100" dirty="0"/>
                        <a:t>)</a:t>
                      </a:r>
                    </a:p>
                  </a:txBody>
                  <a:tcPr/>
                </a:tc>
                <a:tc>
                  <a:txBody>
                    <a:bodyPr/>
                    <a:lstStyle/>
                    <a:p>
                      <a:r>
                        <a:rPr lang="en-US" sz="1100" dirty="0"/>
                        <a:t>Mid Income, Mid Spending</a:t>
                      </a:r>
                      <a:endParaRPr lang="en-IN" sz="1100" dirty="0"/>
                    </a:p>
                  </a:txBody>
                  <a:tcPr/>
                </a:tc>
                <a:tc>
                  <a:txBody>
                    <a:bodyPr/>
                    <a:lstStyle/>
                    <a:p>
                      <a:r>
                        <a:rPr lang="en-US" sz="1100" dirty="0"/>
                        <a:t>"Standard Customers" </a:t>
                      </a:r>
                      <a:endParaRPr lang="en-IN" sz="1100" dirty="0"/>
                    </a:p>
                  </a:txBody>
                  <a:tcPr/>
                </a:tc>
                <a:tc>
                  <a:txBody>
                    <a:bodyPr/>
                    <a:lstStyle/>
                    <a:p>
                      <a:r>
                        <a:rPr lang="en-US" sz="1100" dirty="0"/>
                        <a:t>Focus on loyalty programs and standard promotions to maintain engagement</a:t>
                      </a:r>
                      <a:endParaRPr lang="en-IN" sz="1100" dirty="0"/>
                    </a:p>
                  </a:txBody>
                  <a:tcPr/>
                </a:tc>
                <a:extLst>
                  <a:ext uri="{0D108BD9-81ED-4DB2-BD59-A6C34878D82A}">
                    <a16:rowId xmlns:a16="http://schemas.microsoft.com/office/drawing/2014/main" val="1651009382"/>
                  </a:ext>
                </a:extLst>
              </a:tr>
              <a:tr h="557073">
                <a:tc>
                  <a:txBody>
                    <a:bodyPr/>
                    <a:lstStyle/>
                    <a:p>
                      <a:r>
                        <a:rPr lang="en-IN" sz="1100" dirty="0"/>
                        <a:t>Cluster 2</a:t>
                      </a:r>
                    </a:p>
                  </a:txBody>
                  <a:tcPr/>
                </a:tc>
                <a:tc>
                  <a:txBody>
                    <a:bodyPr/>
                    <a:lstStyle/>
                    <a:p>
                      <a:r>
                        <a:rPr lang="en-IN" sz="1100" dirty="0"/>
                        <a:t>Red (top right)</a:t>
                      </a:r>
                    </a:p>
                  </a:txBody>
                  <a:tcPr/>
                </a:tc>
                <a:tc>
                  <a:txBody>
                    <a:bodyPr/>
                    <a:lstStyle/>
                    <a:p>
                      <a:r>
                        <a:rPr lang="en-US" sz="1100" dirty="0"/>
                        <a:t>High Income, High Spending</a:t>
                      </a:r>
                      <a:endParaRPr lang="en-IN" sz="1100" dirty="0"/>
                    </a:p>
                  </a:txBody>
                  <a:tcPr/>
                </a:tc>
                <a:tc>
                  <a:txBody>
                    <a:bodyPr/>
                    <a:lstStyle/>
                    <a:p>
                      <a:r>
                        <a:rPr lang="en-US" sz="1100" dirty="0"/>
                        <a:t>"The Elite / Target" </a:t>
                      </a:r>
                      <a:endParaRPr lang="en-IN" sz="1100" dirty="0"/>
                    </a:p>
                  </a:txBody>
                  <a:tcPr/>
                </a:tc>
                <a:tc>
                  <a:txBody>
                    <a:bodyPr/>
                    <a:lstStyle/>
                    <a:p>
                      <a:r>
                        <a:rPr lang="en-US" sz="1100" dirty="0"/>
                        <a:t>Prime targets for luxury goods, VIP services, and exclusive offers. Most profitable segment</a:t>
                      </a:r>
                      <a:endParaRPr lang="en-IN" sz="1100" dirty="0"/>
                    </a:p>
                  </a:txBody>
                  <a:tcPr/>
                </a:tc>
                <a:extLst>
                  <a:ext uri="{0D108BD9-81ED-4DB2-BD59-A6C34878D82A}">
                    <a16:rowId xmlns:a16="http://schemas.microsoft.com/office/drawing/2014/main" val="1325205687"/>
                  </a:ext>
                </a:extLst>
              </a:tr>
              <a:tr h="680867">
                <a:tc>
                  <a:txBody>
                    <a:bodyPr/>
                    <a:lstStyle/>
                    <a:p>
                      <a:r>
                        <a:rPr lang="en-IN" sz="1100" dirty="0"/>
                        <a:t>Cluster 3</a:t>
                      </a:r>
                    </a:p>
                  </a:txBody>
                  <a:tcPr/>
                </a:tc>
                <a:tc>
                  <a:txBody>
                    <a:bodyPr/>
                    <a:lstStyle/>
                    <a:p>
                      <a:r>
                        <a:rPr lang="en-IN" sz="1100" dirty="0"/>
                        <a:t>Blue (bottom right)</a:t>
                      </a:r>
                    </a:p>
                  </a:txBody>
                  <a:tcPr/>
                </a:tc>
                <a:tc>
                  <a:txBody>
                    <a:bodyPr/>
                    <a:lstStyle/>
                    <a:p>
                      <a:r>
                        <a:rPr lang="en-US" sz="1100" dirty="0"/>
                        <a:t>High Income, Low Spending</a:t>
                      </a:r>
                      <a:endParaRPr lang="en-IN" sz="1100" dirty="0"/>
                    </a:p>
                  </a:txBody>
                  <a:tcPr/>
                </a:tc>
                <a:tc>
                  <a:txBody>
                    <a:bodyPr/>
                    <a:lstStyle/>
                    <a:p>
                      <a:r>
                        <a:rPr lang="en-US" sz="1100" dirty="0"/>
                        <a:t>"Frugal Earners" </a:t>
                      </a:r>
                      <a:endParaRPr lang="en-IN" sz="1100" dirty="0"/>
                    </a:p>
                  </a:txBody>
                  <a:tcPr/>
                </a:tc>
                <a:tc>
                  <a:txBody>
                    <a:bodyPr/>
                    <a:lstStyle/>
                    <a:p>
                      <a:r>
                        <a:rPr lang="en-US" sz="1100" dirty="0"/>
                        <a:t>Potential for upselling. Marketing should focus on value proposition and quality to unlock their spending power.</a:t>
                      </a:r>
                      <a:endParaRPr lang="en-IN" sz="1100" dirty="0"/>
                    </a:p>
                  </a:txBody>
                  <a:tcPr/>
                </a:tc>
                <a:extLst>
                  <a:ext uri="{0D108BD9-81ED-4DB2-BD59-A6C34878D82A}">
                    <a16:rowId xmlns:a16="http://schemas.microsoft.com/office/drawing/2014/main" val="1055438897"/>
                  </a:ext>
                </a:extLst>
              </a:tr>
              <a:tr h="433279">
                <a:tc>
                  <a:txBody>
                    <a:bodyPr/>
                    <a:lstStyle/>
                    <a:p>
                      <a:r>
                        <a:rPr lang="en-IN" sz="1100" dirty="0"/>
                        <a:t>Cluster 4</a:t>
                      </a:r>
                    </a:p>
                  </a:txBody>
                  <a:tcPr/>
                </a:tc>
                <a:tc>
                  <a:txBody>
                    <a:bodyPr/>
                    <a:lstStyle/>
                    <a:p>
                      <a:r>
                        <a:rPr lang="en-IN" sz="1100" dirty="0"/>
                        <a:t>Yellow (bottom left)</a:t>
                      </a:r>
                    </a:p>
                  </a:txBody>
                  <a:tcPr/>
                </a:tc>
                <a:tc>
                  <a:txBody>
                    <a:bodyPr/>
                    <a:lstStyle/>
                    <a:p>
                      <a:r>
                        <a:rPr lang="en-US" sz="1100" dirty="0"/>
                        <a:t>Low Income, Low Spending</a:t>
                      </a:r>
                      <a:endParaRPr lang="en-IN" sz="1100" dirty="0"/>
                    </a:p>
                  </a:txBody>
                  <a:tcPr/>
                </a:tc>
                <a:tc>
                  <a:txBody>
                    <a:bodyPr/>
                    <a:lstStyle/>
                    <a:p>
                      <a:r>
                        <a:rPr lang="en-US" sz="1100" dirty="0"/>
                        <a:t>"Budget Conscious" </a:t>
                      </a:r>
                      <a:endParaRPr lang="en-IN" sz="1100" dirty="0"/>
                    </a:p>
                  </a:txBody>
                  <a:tcPr/>
                </a:tc>
                <a:tc>
                  <a:txBody>
                    <a:bodyPr/>
                    <a:lstStyle/>
                    <a:p>
                      <a:r>
                        <a:rPr lang="en-US" sz="1100" dirty="0"/>
                        <a:t>Focus on discounts, sales events, and budget-friendly products.</a:t>
                      </a:r>
                      <a:endParaRPr lang="en-IN" sz="1100" dirty="0"/>
                    </a:p>
                  </a:txBody>
                  <a:tcPr/>
                </a:tc>
                <a:extLst>
                  <a:ext uri="{0D108BD9-81ED-4DB2-BD59-A6C34878D82A}">
                    <a16:rowId xmlns:a16="http://schemas.microsoft.com/office/drawing/2014/main" val="2464893624"/>
                  </a:ext>
                </a:extLst>
              </a:tr>
              <a:tr h="557073">
                <a:tc>
                  <a:txBody>
                    <a:bodyPr/>
                    <a:lstStyle/>
                    <a:p>
                      <a:r>
                        <a:rPr lang="en-IN" sz="1100" dirty="0"/>
                        <a:t>Cluster 5</a:t>
                      </a:r>
                    </a:p>
                  </a:txBody>
                  <a:tcPr/>
                </a:tc>
                <a:tc>
                  <a:txBody>
                    <a:bodyPr/>
                    <a:lstStyle/>
                    <a:p>
                      <a:r>
                        <a:rPr lang="en-IN" sz="1100" dirty="0"/>
                        <a:t>Black (top left)</a:t>
                      </a:r>
                    </a:p>
                  </a:txBody>
                  <a:tcPr/>
                </a:tc>
                <a:tc>
                  <a:txBody>
                    <a:bodyPr/>
                    <a:lstStyle/>
                    <a:p>
                      <a:r>
                        <a:rPr lang="en-US" sz="1100" dirty="0"/>
                        <a:t>Low Income, High Spending</a:t>
                      </a:r>
                      <a:endParaRPr lang="en-IN" sz="1100" dirty="0"/>
                    </a:p>
                  </a:txBody>
                  <a:tcPr/>
                </a:tc>
                <a:tc>
                  <a:txBody>
                    <a:bodyPr/>
                    <a:lstStyle/>
                    <a:p>
                      <a:r>
                        <a:rPr lang="en-US" sz="1100" dirty="0"/>
                        <a:t>"Impulse Buyers" </a:t>
                      </a:r>
                      <a:endParaRPr lang="en-IN" sz="1100" dirty="0"/>
                    </a:p>
                  </a:txBody>
                  <a:tcPr/>
                </a:tc>
                <a:tc>
                  <a:txBody>
                    <a:bodyPr/>
                    <a:lstStyle/>
                    <a:p>
                      <a:r>
                        <a:rPr lang="en-US" sz="1100" dirty="0"/>
                        <a:t>Likely younger demographic. Focus on trendy items, limited-time offers, and "buy now" appeals.</a:t>
                      </a:r>
                      <a:endParaRPr lang="en-IN" sz="1100" dirty="0"/>
                    </a:p>
                  </a:txBody>
                  <a:tcPr/>
                </a:tc>
                <a:extLst>
                  <a:ext uri="{0D108BD9-81ED-4DB2-BD59-A6C34878D82A}">
                    <a16:rowId xmlns:a16="http://schemas.microsoft.com/office/drawing/2014/main" val="3848972395"/>
                  </a:ext>
                </a:extLst>
              </a:tr>
            </a:tbl>
          </a:graphicData>
        </a:graphic>
      </p:graphicFrame>
    </p:spTree>
    <p:extLst>
      <p:ext uri="{BB962C8B-B14F-4D97-AF65-F5344CB8AC3E}">
        <p14:creationId xmlns:p14="http://schemas.microsoft.com/office/powerpoint/2010/main" val="1615287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7A837-81A8-9EF3-4EB7-54A4270131C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1D1E68E-6780-210C-446D-69E794D4C6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9890" y="729673"/>
            <a:ext cx="10086109" cy="5447290"/>
          </a:xfrm>
        </p:spPr>
      </p:pic>
    </p:spTree>
    <p:extLst>
      <p:ext uri="{BB962C8B-B14F-4D97-AF65-F5344CB8AC3E}">
        <p14:creationId xmlns:p14="http://schemas.microsoft.com/office/powerpoint/2010/main" val="839566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1A58E-D23E-D56D-4E77-83697C4AE1AD}"/>
              </a:ext>
            </a:extLst>
          </p:cNvPr>
          <p:cNvSpPr>
            <a:spLocks noGrp="1"/>
          </p:cNvSpPr>
          <p:nvPr>
            <p:ph type="title"/>
          </p:nvPr>
        </p:nvSpPr>
        <p:spPr/>
        <p:txBody>
          <a:bodyPr/>
          <a:lstStyle/>
          <a:p>
            <a:r>
              <a:rPr lang="en-US" dirty="0"/>
              <a:t>5. Objective of the Project</a:t>
            </a:r>
            <a:endParaRPr lang="en-IN" dirty="0"/>
          </a:p>
        </p:txBody>
      </p:sp>
      <p:sp>
        <p:nvSpPr>
          <p:cNvPr id="3" name="Content Placeholder 2">
            <a:extLst>
              <a:ext uri="{FF2B5EF4-FFF2-40B4-BE49-F238E27FC236}">
                <a16:creationId xmlns:a16="http://schemas.microsoft.com/office/drawing/2014/main" id="{A0E60D18-29AC-827E-4B7A-209037F9C486}"/>
              </a:ext>
            </a:extLst>
          </p:cNvPr>
          <p:cNvSpPr>
            <a:spLocks noGrp="1"/>
          </p:cNvSpPr>
          <p:nvPr>
            <p:ph idx="1"/>
          </p:nvPr>
        </p:nvSpPr>
        <p:spPr/>
        <p:txBody>
          <a:bodyPr/>
          <a:lstStyle/>
          <a:p>
            <a:r>
              <a:rPr lang="en-US" dirty="0"/>
              <a:t>The primary objectives of this project are:</a:t>
            </a:r>
          </a:p>
          <a:p>
            <a:r>
              <a:rPr lang="en-US" dirty="0"/>
              <a:t>To analyze demographic and financial characteristics of mall customers.</a:t>
            </a:r>
          </a:p>
          <a:p>
            <a:r>
              <a:rPr lang="en-US" dirty="0"/>
              <a:t>To determine the optimal number of customer segments.</a:t>
            </a:r>
          </a:p>
          <a:p>
            <a:r>
              <a:rPr lang="en-US" dirty="0"/>
              <a:t>To apply K-Means clustering to create meaningful customer groups.</a:t>
            </a:r>
          </a:p>
          <a:p>
            <a:r>
              <a:rPr lang="en-US" dirty="0"/>
              <a:t>To visualize clusters and interpret customer behavior.</a:t>
            </a:r>
          </a:p>
          <a:p>
            <a:r>
              <a:rPr lang="en-US" dirty="0"/>
              <a:t>To evaluate clustering quality using the Elbow Method and Silhouette Score.</a:t>
            </a:r>
            <a:endParaRPr lang="en-IN" dirty="0"/>
          </a:p>
        </p:txBody>
      </p:sp>
    </p:spTree>
    <p:extLst>
      <p:ext uri="{BB962C8B-B14F-4D97-AF65-F5344CB8AC3E}">
        <p14:creationId xmlns:p14="http://schemas.microsoft.com/office/powerpoint/2010/main" val="1624796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AD188-0CF4-C5C1-37E3-86BF99696BF6}"/>
              </a:ext>
            </a:extLst>
          </p:cNvPr>
          <p:cNvSpPr>
            <a:spLocks noGrp="1"/>
          </p:cNvSpPr>
          <p:nvPr>
            <p:ph type="title"/>
          </p:nvPr>
        </p:nvSpPr>
        <p:spPr/>
        <p:txBody>
          <a:bodyPr/>
          <a:lstStyle/>
          <a:p>
            <a:r>
              <a:rPr lang="en-US" dirty="0"/>
              <a:t>6. Visual Validation​Scatter Plot:</a:t>
            </a:r>
            <a:endParaRPr lang="en-IN" dirty="0"/>
          </a:p>
        </p:txBody>
      </p:sp>
      <p:sp>
        <p:nvSpPr>
          <p:cNvPr id="3" name="Content Placeholder 2">
            <a:extLst>
              <a:ext uri="{FF2B5EF4-FFF2-40B4-BE49-F238E27FC236}">
                <a16:creationId xmlns:a16="http://schemas.microsoft.com/office/drawing/2014/main" id="{B5F6CD66-F60A-0AB5-A659-027AB4E3663C}"/>
              </a:ext>
            </a:extLst>
          </p:cNvPr>
          <p:cNvSpPr>
            <a:spLocks noGrp="1"/>
          </p:cNvSpPr>
          <p:nvPr>
            <p:ph idx="1"/>
          </p:nvPr>
        </p:nvSpPr>
        <p:spPr/>
        <p:txBody>
          <a:bodyPr/>
          <a:lstStyle/>
          <a:p>
            <a:r>
              <a:rPr lang="en-US" dirty="0"/>
              <a:t>The scatter plot clearly shows 5 distinct regions with minimal overlap, validating the choice of k=5.​Silhouette Plot: The vertical thickness of the silhouette plots suggests that the "Standard Customers" (Cluster 1) is the largest group, while the outliers (High Income/Low Spend) form smaller, distinct niches.</a:t>
            </a:r>
            <a:endParaRPr lang="en-IN" dirty="0"/>
          </a:p>
        </p:txBody>
      </p:sp>
    </p:spTree>
    <p:extLst>
      <p:ext uri="{BB962C8B-B14F-4D97-AF65-F5344CB8AC3E}">
        <p14:creationId xmlns:p14="http://schemas.microsoft.com/office/powerpoint/2010/main" val="3163602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2C7C9-0652-D31A-ECE5-F076140146CD}"/>
              </a:ext>
            </a:extLst>
          </p:cNvPr>
          <p:cNvSpPr>
            <a:spLocks noGrp="1"/>
          </p:cNvSpPr>
          <p:nvPr>
            <p:ph type="title"/>
          </p:nvPr>
        </p:nvSpPr>
        <p:spPr/>
        <p:txBody>
          <a:bodyPr/>
          <a:lstStyle/>
          <a:p>
            <a:r>
              <a:rPr lang="en-US" dirty="0"/>
              <a:t>​7. Conclusion</a:t>
            </a:r>
            <a:endParaRPr lang="en-IN" dirty="0"/>
          </a:p>
        </p:txBody>
      </p:sp>
      <p:sp>
        <p:nvSpPr>
          <p:cNvPr id="3" name="Content Placeholder 2">
            <a:extLst>
              <a:ext uri="{FF2B5EF4-FFF2-40B4-BE49-F238E27FC236}">
                <a16:creationId xmlns:a16="http://schemas.microsoft.com/office/drawing/2014/main" id="{02CFE34B-749B-EEB7-61FD-BAFD7019D43E}"/>
              </a:ext>
            </a:extLst>
          </p:cNvPr>
          <p:cNvSpPr>
            <a:spLocks noGrp="1"/>
          </p:cNvSpPr>
          <p:nvPr>
            <p:ph idx="1"/>
          </p:nvPr>
        </p:nvSpPr>
        <p:spPr/>
        <p:txBody>
          <a:bodyPr/>
          <a:lstStyle/>
          <a:p>
            <a:r>
              <a:rPr lang="en-US" dirty="0"/>
              <a:t>​The K-Means clustering model successfully categorized the mall customers into actionable groups. By tailoring marketing campaigns to the five personas identified—specifically targeting the "Elite" for high-margin items and the "Impulse Buyers" for volume sales—the mall can optimize its revenue strategies</a:t>
            </a:r>
            <a:endParaRPr lang="en-IN" dirty="0"/>
          </a:p>
        </p:txBody>
      </p:sp>
    </p:spTree>
    <p:extLst>
      <p:ext uri="{BB962C8B-B14F-4D97-AF65-F5344CB8AC3E}">
        <p14:creationId xmlns:p14="http://schemas.microsoft.com/office/powerpoint/2010/main" val="368900927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7</TotalTime>
  <Words>799</Words>
  <Application>Microsoft Office PowerPoint</Application>
  <PresentationFormat>Widescreen</PresentationFormat>
  <Paragraphs>79</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Calibri</vt:lpstr>
      <vt:lpstr>Calibri Light</vt:lpstr>
      <vt:lpstr>Retrospect</vt:lpstr>
      <vt:lpstr>Customer Segmentation Analysis Report​</vt:lpstr>
      <vt:lpstr>1. Introduction</vt:lpstr>
      <vt:lpstr>​2. Data Overview &amp; Preprocessing​</vt:lpstr>
      <vt:lpstr>3. Methodology</vt:lpstr>
      <vt:lpstr>PowerPoint Presentation</vt:lpstr>
      <vt:lpstr>​3.2 Silhouette Analysis</vt:lpstr>
      <vt:lpstr>PowerPoint Presentation</vt:lpstr>
      <vt:lpstr>​4. Cluster Analysis &amp; Interpretation​</vt:lpstr>
      <vt:lpstr>PowerPoint Presentation</vt:lpstr>
      <vt:lpstr>5. Objective of the Project</vt:lpstr>
      <vt:lpstr>6. Visual Validation​Scatter Plot:</vt:lpstr>
      <vt:lpstr>​7.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tanuj sharma</dc:creator>
  <cp:lastModifiedBy>tanuj sharma</cp:lastModifiedBy>
  <cp:revision>2</cp:revision>
  <dcterms:created xsi:type="dcterms:W3CDTF">2025-11-28T16:35:13Z</dcterms:created>
  <dcterms:modified xsi:type="dcterms:W3CDTF">2025-11-28T16:44:07Z</dcterms:modified>
</cp:coreProperties>
</file>